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011680"/>
            <a:ext cx="137160" cy="2926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920240"/>
            <a:ext cx="9601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ZENASSIST - AI BENCHMARK</a:t>
            </a:r>
          </a:p>
          <a:p>
            <a:pPr>
              <a:spcBef>
                <a:spcPts val="1000"/>
              </a:spcBef>
              <a:defRPr sz="3200" b="1">
                <a:solidFill>
                  <a:srgbClr val="FFFFFF"/>
                </a:solidFill>
              </a:defRPr>
            </a:pPr>
            <a:r>
              <a:t>Classification Automatique des Réclamations Clients</a:t>
            </a:r>
          </a:p>
          <a:p>
            <a:pPr>
              <a:spcBef>
                <a:spcPts val="1500"/>
              </a:spcBef>
              <a:defRPr sz="1800">
                <a:solidFill>
                  <a:srgbClr val="CBD5E1"/>
                </a:solidFill>
              </a:defRPr>
            </a:pPr>
            <a:r>
              <a:t>Étude comparative : Large Language Model (LLM) vs Machine Learning Traditionnel</a:t>
            </a:r>
          </a:p>
          <a:p>
            <a:pPr>
              <a:spcBef>
                <a:spcPts val="3000"/>
              </a:spcBef>
              <a:defRPr sz="1200">
                <a:solidFill>
                  <a:srgbClr val="64748B"/>
                </a:solidFill>
              </a:defRPr>
            </a:pPr>
            <a:r>
              <a:t>Présenté par l'Équipe Ingénierie IA | Product Owner: Pierre Martin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PROJECT ZENASSIST - AI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Contexte &amp; Problématique Métier chez ZenAssist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1F5F9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365D"/>
                </a:solidFill>
              </a:defRPr>
            </a:pPr>
            <a:r>
              <a:t>📌 CONSTAT ACTUEL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200 réclamations/jour par client en moyenne.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Tri et routage 100% manuels par l'équipe support.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Goulot d'étranglement ralentissant la résolution.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Impact négatif sur la satisfaction client.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1F5F9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365D"/>
                </a:solidFill>
              </a:defRPr>
            </a:pPr>
            <a:r>
              <a:t>🎯 OBJECTIF PROJET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Automatiser l'étiquetage par catégorie produit.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Router immédiatement le ticket au bon service.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Garantir un temps de réponse en &lt; 1 seconde.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Déploiement pilote auprès de 5 clients (~1 000 tickets/j).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1F5F9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365D"/>
                </a:solidFill>
              </a:defRPr>
            </a:pPr>
            <a:r>
              <a:t>🛠️ CONTRAINTES INTERNES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Équipe technique restreinte : 1 PO, 1 Dev Front, 1 Dev Back.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Aucun expert Data Science / IA en interne.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Nécessité d'une solution simple à maintenir.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Maîtrise stricte du coût d'infrastructure et d'exploitation.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PROJECT ZENASSIST - AI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Analyse Exploratoire des Données (EDA)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Résultats du prétraitement et de la structuration des réclamations :</a:t>
            </a:r>
          </a:p>
          <a:p>
            <a:pPr>
              <a:spcBef>
                <a:spcPts val="1200"/>
              </a:spcBef>
              <a:defRPr sz="1300" b="1">
                <a:solidFill>
                  <a:srgbClr val="1A365D"/>
                </a:solidFill>
              </a:defRPr>
            </a:pPr>
            <a:r>
              <a:t>• Volume de Données 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1 282 355 réclamations brutes analysées. 383 564 comportent une description textuelle complète (29,9%). 16 441 doublons supprimés pour un total unique de 367 123 réclamations.</a:t>
            </a:r>
          </a:p>
          <a:p>
            <a:pPr>
              <a:spcBef>
                <a:spcPts val="1200"/>
              </a:spcBef>
              <a:defRPr sz="1300" b="1">
                <a:solidFill>
                  <a:srgbClr val="1A365D"/>
                </a:solidFill>
              </a:defRPr>
            </a:pPr>
            <a:r>
              <a:t>• Harmonisation de la Taxonomie 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Regroupement des catégories historiques CFPB (doublons de dénominations) en 10 catégories de produits claires et équilibrées.</a:t>
            </a:r>
          </a:p>
          <a:p>
            <a:pPr>
              <a:spcBef>
                <a:spcPts val="1200"/>
              </a:spcBef>
              <a:defRPr sz="1300" b="1">
                <a:solidFill>
                  <a:srgbClr val="1A365D"/>
                </a:solidFill>
              </a:defRPr>
            </a:pPr>
            <a:r>
              <a:t>• Distribution des Classes 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Credit reporting (30.0%), Debt collection (23.0%), Mortgage (14.4%), Credit card (11.3%), Bank account (7.5%), Student loan (5.9%), Payday loan (4.2%), Money transfer (1.9%), Vehicle loan (1.6%).</a:t>
            </a:r>
          </a:p>
          <a:p>
            <a:pPr>
              <a:spcBef>
                <a:spcPts val="1200"/>
              </a:spcBef>
              <a:defRPr sz="1300" b="1">
                <a:solidFill>
                  <a:srgbClr val="1A365D"/>
                </a:solidFill>
              </a:defRPr>
            </a:pPr>
            <a:r>
              <a:t>• Longueur des Réclamations 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Moyenne : 201.8 mots (~270 tokens). Médiane : 141 mots. 95% des réclamations font moins de 600 mots. Format idéal pour l'inférence.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PROJECT ZENASSIST - AI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Cadre d'Évaluation &amp; Métriques Clés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1F5F9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365D"/>
                </a:solidFill>
              </a:defRPr>
            </a:pPr>
            <a:r>
              <a:t>🎯 MÉTRIQUES DE PERFORMANCE IA</a:t>
            </a:r>
          </a:p>
          <a:p>
            <a:pPr>
              <a:spcBef>
                <a:spcPts val="800"/>
              </a:spcBef>
              <a:defRPr sz="1200" b="1">
                <a:solidFill>
                  <a:srgbClr val="0D9488"/>
                </a:solidFill>
              </a:defRPr>
            </a:pPr>
            <a:r>
              <a:t>• Accuracy globale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Pourcentage total de réclamations correctement orientées.</a:t>
            </a:r>
          </a:p>
          <a:p>
            <a:pPr>
              <a:spcBef>
                <a:spcPts val="800"/>
              </a:spcBef>
              <a:defRPr sz="1200" b="1">
                <a:solidFill>
                  <a:srgbClr val="0D9488"/>
                </a:solidFill>
              </a:defRPr>
            </a:pPr>
            <a:r>
              <a:t>• F1-Score (Weighted / Macro)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Équilibre entre Précision et Rappel, pondéré par l'effectif des catégories pour tenir compte du déséquilibre des classes.</a:t>
            </a:r>
          </a:p>
          <a:p>
            <a:pPr>
              <a:spcBef>
                <a:spcPts val="800"/>
              </a:spcBef>
              <a:defRPr sz="1200" b="1">
                <a:solidFill>
                  <a:srgbClr val="0D9488"/>
                </a:solidFill>
              </a:defRPr>
            </a:pPr>
            <a:r>
              <a:t>• Précision &amp; Rappel par classe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Évaluation fine sur chaque type de produit (évitement des faux positifs/négatifs).</a:t>
            </a:r>
          </a:p>
          <a:p>
            <a:pPr>
              <a:spcBef>
                <a:spcPts val="800"/>
              </a:spcBef>
              <a:defRPr sz="1200" b="1">
                <a:solidFill>
                  <a:srgbClr val="0D9488"/>
                </a:solidFill>
              </a:defRPr>
            </a:pPr>
            <a:r>
              <a:t>• Matrice de confusion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Visualisation des erreurs de routage entre catégories proches.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1F5F9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365D"/>
                </a:solidFill>
              </a:defRPr>
            </a:pPr>
            <a:r>
              <a:t>⚡ MÉTRIQUES SYSTÈME &amp; PRODUCTIVITÉ</a:t>
            </a:r>
          </a:p>
          <a:p>
            <a:pPr>
              <a:spcBef>
                <a:spcPts val="800"/>
              </a:spcBef>
              <a:defRPr sz="1200" b="1">
                <a:solidFill>
                  <a:srgbClr val="0D9488"/>
                </a:solidFill>
              </a:defRPr>
            </a:pPr>
            <a:r>
              <a:t>• Latence d'inférence (ms / ticket)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Temps nécessaire au traitement d'un ticket pour garantir une expérience utilisateur fluide en direct.</a:t>
            </a:r>
          </a:p>
          <a:p>
            <a:pPr>
              <a:spcBef>
                <a:spcPts val="800"/>
              </a:spcBef>
              <a:defRPr sz="1200" b="1">
                <a:solidFill>
                  <a:srgbClr val="0D9488"/>
                </a:solidFill>
              </a:defRPr>
            </a:pPr>
            <a:r>
              <a:t>• Coût d'Inférence / Exploitation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Coût récurrent lié aux appels API ou à l'hébergement serveur (en €/mois).</a:t>
            </a:r>
          </a:p>
          <a:p>
            <a:pPr>
              <a:spcBef>
                <a:spcPts val="800"/>
              </a:spcBef>
              <a:defRPr sz="1200" b="1">
                <a:solidFill>
                  <a:srgbClr val="0D9488"/>
                </a:solidFill>
              </a:defRPr>
            </a:pPr>
            <a:r>
              <a:t>• Complexité d'Implémentation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Charge de travail initiale requise pour la mise en production par l'équipe Web.</a:t>
            </a:r>
          </a:p>
          <a:p>
            <a:pPr>
              <a:spcBef>
                <a:spcPts val="800"/>
              </a:spcBef>
              <a:defRPr sz="1200" b="1">
                <a:solidFill>
                  <a:srgbClr val="0D9488"/>
                </a:solidFill>
              </a:defRPr>
            </a:pPr>
            <a:r>
              <a:t>• Maintenance &amp; Évolutivité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Facilité d'ajout de nouvelles catégories sans réingénierie complexe.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PROJECT ZENASSIST - AI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Résultats : Approche LLM (Google Gemini 3.5 Flash Lite)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Évaluation Zero-Shot avec Prompting Structuré sur 1 000 réclamations de test :</a:t>
            </a:r>
          </a:p>
          <a:p>
            <a:pPr>
              <a:spcBef>
                <a:spcPts val="1000"/>
              </a:spcBef>
              <a:defRPr sz="1300" b="1">
                <a:solidFill>
                  <a:srgbClr val="0D9488"/>
                </a:solidFill>
              </a:defRPr>
            </a:pPr>
            <a:r>
              <a:t>• Accuracy globale 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81.00 % (810 réclamations bien classées sur 1 000)</a:t>
            </a:r>
          </a:p>
          <a:p>
            <a:pPr>
              <a:spcBef>
                <a:spcPts val="1000"/>
              </a:spcBef>
              <a:defRPr sz="1300" b="1">
                <a:solidFill>
                  <a:srgbClr val="0D9488"/>
                </a:solidFill>
              </a:defRPr>
            </a:pPr>
            <a:r>
              <a:t>• Weighted F1-Score 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0.81</a:t>
            </a:r>
          </a:p>
          <a:p>
            <a:pPr>
              <a:spcBef>
                <a:spcPts val="1000"/>
              </a:spcBef>
              <a:defRPr sz="1300" b="1">
                <a:solidFill>
                  <a:srgbClr val="0D9488"/>
                </a:solidFill>
              </a:defRPr>
            </a:pPr>
            <a:r>
              <a:t>• Temps de réponse moyen (Latence) 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0.458 seconde par ticket (458 ms)</a:t>
            </a:r>
          </a:p>
          <a:p>
            <a:pPr>
              <a:spcBef>
                <a:spcPts val="1000"/>
              </a:spcBef>
              <a:defRPr sz="1300" b="1">
                <a:solidFill>
                  <a:srgbClr val="0D9488"/>
                </a:solidFill>
              </a:defRPr>
            </a:pPr>
            <a:r>
              <a:t>• Points Forts par Catégorie 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Mortgage (F1: 0.93), Student Loan (F1: 0.86), Credit Reporting (F1: 0.83), Credit Card (F1: 0.83), Debt Collection (F1: 0.82)</a:t>
            </a:r>
          </a:p>
          <a:p>
            <a:pPr>
              <a:spcBef>
                <a:spcPts val="1000"/>
              </a:spcBef>
              <a:defRPr sz="1300" b="1">
                <a:solidFill>
                  <a:srgbClr val="0D9488"/>
                </a:solidFill>
              </a:defRPr>
            </a:pPr>
            <a:r>
              <a:t>• Limites constatées 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Confusion sur les catégories minoritaires complexes (Payday loans F1: 0.25 souvent confondu avec Debt collection).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PROJECT ZENASSIST - AI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Résultats : Approche Machine Learning Traditionnel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Entraînement de 3 modèles sur 293 698 exemples (Vectorisation TF-IDF 50k features) :</a:t>
            </a:r>
          </a:p>
          <a:p>
            <a:pPr>
              <a:spcBef>
                <a:spcPts val="1000"/>
              </a:spcBef>
              <a:defRPr sz="1300" b="1">
                <a:solidFill>
                  <a:srgbClr val="10B981"/>
                </a:solidFill>
              </a:defRPr>
            </a:pPr>
            <a:r>
              <a:t>• Modèle Gagnant : Régression Logistique 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Accuracy : 85.70% sur l'échantillon 1k | Accuracy : 84.72% sur le test complet (73 425 tickets). F1-Weighted : 0.8548.</a:t>
            </a:r>
          </a:p>
          <a:p>
            <a:pPr>
              <a:spcBef>
                <a:spcPts val="1000"/>
              </a:spcBef>
              <a:defRPr sz="1300" b="1">
                <a:solidFill>
                  <a:srgbClr val="10B981"/>
                </a:solidFill>
              </a:defRPr>
            </a:pPr>
            <a:r>
              <a:t>• Autre Modèle : Multinomial Naive Bayes 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Accuracy : 82.20% (1k) / 81.54% (73k). Temps d'entraînement ultra-rapide (0.49 s). F1-Weighted : 0.8196.</a:t>
            </a:r>
          </a:p>
          <a:p>
            <a:pPr>
              <a:spcBef>
                <a:spcPts val="1000"/>
              </a:spcBef>
              <a:defRPr sz="1300" b="1">
                <a:solidFill>
                  <a:srgbClr val="10B981"/>
                </a:solidFill>
              </a:defRPr>
            </a:pPr>
            <a:r>
              <a:t>• Autre Modèle : Linear SVM (SGD) 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Accuracy : 79.60% (1k) / 80.16% (73k). F1-Weighted : 0.7800.</a:t>
            </a:r>
          </a:p>
          <a:p>
            <a:pPr>
              <a:spcBef>
                <a:spcPts val="1000"/>
              </a:spcBef>
              <a:defRPr sz="1300" b="1">
                <a:solidFill>
                  <a:srgbClr val="10B981"/>
                </a:solidFill>
              </a:defRPr>
            </a:pPr>
            <a:r>
              <a:t>• Vitesse d'Inférence Exceptionnelle 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Latence moyenne de 0.002 ms par ticket (2 microsecondes) avec la Régression Logistique.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PROJECT ZENASSIST - AI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Tableau Comparatif Synthétique (Iso-Périmètre 1 000 Tickets)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67926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Critère de Comparaison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LLM (Gemini 3.5 Flash Lite)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Machine Learning (Logistic Reg)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Gagnant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Accuracy Globale (1k sample)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81.00 %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85.70 %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🏆 ML (+4.7%)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F1-Score (Weighted)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0.81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0.85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🏆 ML (+0.04)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Latence d'inférence (par ticket)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458 ms (0.458 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0.002 ms (0.000002 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🏆 ML (x200 000 plus rapide)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Coût d'Exploitation (pour 1M tickets)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~75.00 € (Facturation API)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0.00 € (Inclus CPU local)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🏆 ML (Facture nulle)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Compétence IA requise en interne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Aucune (API REST simple)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Moyenne (Scikit-Learn Python)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🏆 LLM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Flexibilité / Évolution des catégories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Élevée (Mise à jour du prompt)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Nécessite un ré-entraînement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🏆 LLM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PROJECT ZENASSIST - AI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Analyse des Avantages et Inconvénients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1F5F9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365D"/>
                </a:solidFill>
              </a:defRPr>
            </a:pPr>
            <a:r>
              <a:t>🤖 APPROCHE LLM (Gemini 3.5 Flash Lite)</a:t>
            </a:r>
          </a:p>
          <a:p>
            <a:pPr>
              <a:spcBef>
                <a:spcPts val="800"/>
              </a:spcBef>
              <a:defRPr b="1">
                <a:solidFill>
                  <a:srgbClr val="0D9488"/>
                </a:solidFill>
              </a:defRPr>
            </a:pPr>
            <a:r>
              <a:t>✅ AVANTAGES 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+ Mise en place immédiate sans entraînement de modèle.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+ S'adapte facilement à de nouvelles consignes via prompt.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+ Excellente compréhension du langage naturel.</a:t>
            </a:r>
          </a:p>
          <a:p>
            <a:pPr>
              <a:spcBef>
                <a:spcPts val="1000"/>
              </a:spcBef>
              <a:defRPr b="1">
                <a:solidFill>
                  <a:srgbClr val="E11D48"/>
                </a:solidFill>
              </a:defRPr>
            </a:pPr>
            <a:r>
              <a:t>❌ INCONVÉNIENTS 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- Coût récurrent d'API s'accroissant avec le volume.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- Latence élevée (458 ms/ticket).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- Dépendance envers un fournisseur tiers (SLA, API).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1F5F9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365D"/>
                </a:solidFill>
              </a:defRPr>
            </a:pPr>
            <a:r>
              <a:t>⚡ APPROCHE MACHINE LEARNING (Régression Logistique)</a:t>
            </a:r>
          </a:p>
          <a:p>
            <a:pPr>
              <a:spcBef>
                <a:spcPts val="800"/>
              </a:spcBef>
              <a:defRPr b="1">
                <a:solidFill>
                  <a:srgbClr val="10B981"/>
                </a:solidFill>
              </a:defRPr>
            </a:pPr>
            <a:r>
              <a:t>✅ AVANTAGES 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+ Meilleure précision globale (85.70% vs 81.00%).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+ Vitesse d'exécution ultra-rapide (0.002 ms).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+ Coût d'exploitation NUL (tourne sur CPU local).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+ Indépendance totale et souveraineté des données.</a:t>
            </a:r>
          </a:p>
          <a:p>
            <a:pPr>
              <a:spcBef>
                <a:spcPts val="1000"/>
              </a:spcBef>
              <a:defRPr b="1">
                <a:solidFill>
                  <a:srgbClr val="E11D48"/>
                </a:solidFill>
              </a:defRPr>
            </a:pPr>
            <a:r>
              <a:t>❌ INCONVÉNIENTS 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- Nécessite un ré-entraînement lors du changement de catégories.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- Nécessite un script Python de vectorisation et prédiction.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PROJECT ZENASSIST - AI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Recommandation Finale &amp; Justification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1097280"/>
          </a:xfrm>
          <a:prstGeom prst="roundRect">
            <a:avLst/>
          </a:prstGeom>
          <a:solidFill>
            <a:srgbClr val="0D948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🏆 RECOMMANDATION OFFICIELLE : ADOPTER L'APPROCHE MACHINE LEARNING (TF-IDF + REGRESSION LOGISTIQUE)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728655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800"/>
              </a:spcBef>
              <a:defRPr sz="1300" b="1">
                <a:solidFill>
                  <a:srgbClr val="1A365D"/>
                </a:solidFill>
              </a:defRPr>
            </a:pPr>
            <a:r>
              <a:t>1. Précision Maximale (+4.7%)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Le modèle Machine Learning atteint 85.70% d'accuracy contre 81.00% pour Gemini 3.5 Flash Lite sur le même jeu de test.</a:t>
            </a:r>
          </a:p>
          <a:p>
            <a:pPr>
              <a:spcBef>
                <a:spcPts val="800"/>
              </a:spcBef>
              <a:defRPr sz="1300" b="1">
                <a:solidFill>
                  <a:srgbClr val="1A365D"/>
                </a:solidFill>
              </a:defRPr>
            </a:pPr>
            <a:r>
              <a:t>2. Temps de Réponse quasi Instantané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Avec 0.002 ms par ticket, la classification s'effectue en temps réel dès la soumission du formulaire par le client, sans aucun délai d'attente.</a:t>
            </a:r>
          </a:p>
          <a:p>
            <a:pPr>
              <a:spcBef>
                <a:spcPts val="800"/>
              </a:spcBef>
              <a:defRPr sz="1300" b="1">
                <a:solidFill>
                  <a:srgbClr val="1A365D"/>
                </a:solidFill>
              </a:defRPr>
            </a:pPr>
            <a:r>
              <a:t>3. Économies Majeures (Coût d'Exploitation Nul)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Pour 200 réclamations/jour par client sur des dizaines de clients, le modèle ML s'exécute sur le serveur web existant sans générer de facturation API externe.</a:t>
            </a:r>
          </a:p>
          <a:p>
            <a:pPr>
              <a:spcBef>
                <a:spcPts val="800"/>
              </a:spcBef>
              <a:defRPr sz="1300" b="1">
                <a:solidFill>
                  <a:srgbClr val="1A365D"/>
                </a:solidFill>
              </a:defRPr>
            </a:pPr>
            <a:r>
              <a:t>4. Simplicité d'Intégration Web (ZenAssist)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Le modèle est pré-entraîné et sauvegardé sous forme d'un fichier lourd de seulement 3.9 Mo (`best_ml_model.joblib`). Il s'intègre en 10 lignes de code dans l'API Back-end Python/Node.js de ZenAssist.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PROJECT ZENASSIST - AI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Plan de Déploiement en Production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1F5F9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365D"/>
                </a:solidFill>
              </a:defRPr>
            </a:pPr>
            <a:r>
              <a:t>🚀 PHASE 1 : PILOTE (5 CLIENTS)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Intégration du fichier `best_ml_model.joblib` dans l'API Back-end ZenAssist via un endpoint `/api/v1/classify`.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Déploiement auprès de 5 clients pilotes (~1 000 réclamations/jour).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Mode 'Shadow' ou routage automatique avec validation humaine en 1 clic pour mesurer le gain de temps des agents.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Durée du pilote : 2 semaines.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1F5F9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365D"/>
                </a:solidFill>
              </a:defRPr>
            </a:pPr>
            <a:r>
              <a:t>📈 PHASE 2 : DÉPLOIEMENT GLOBAL &amp; MONITORING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Généralisation à l'ensemble des clients ZenAssist.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Monitoring continu des indicateurs clés :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 - Taux de satisfaction des agents support.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 - Temps moyen de première réponse aux tickets.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 - Dérive des données (Data Drift) &amp; ré-entraînement trimestriel automatisé.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Mise en place d'un système de réclamations mal classées pour ré-entraînement.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PROJECT ZENASSIST - AI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Conclusion &amp; Prochaines Étapes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65D"/>
                </a:solidFill>
              </a:defRPr>
            </a:pPr>
            <a:r>
              <a:t>SYNTHÈSE DU PROJET ZENASSIST :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✔ L'étude comparative démontre que l'approche Machine Learning Traditionnel (Régression Logistique + TF-IDF) est supérieure à l'approche LLM pour le cas d'usage ZenAssist.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✔ Elle offre une meilleure précision (85.70%), une exécution quasi instantanée (0.002 ms) et un coût d'exploitation totalement nul.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✔ Elle répond parfaitement aux contraintes de l'équipe ZenAssist (facile à intégrer dans le Back-end sans nécessiter d'expert IA permanent).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✔ Livrables fournis : Code nettoyé et documenté, modèles pré-entraînés (.joblib), datasets traités, et cette présentation décisionnelle.</a:t>
            </a:r>
          </a:p>
          <a:p>
            <a:pPr>
              <a:spcBef>
                <a:spcPts val="3000"/>
              </a:spcBef>
              <a:defRPr sz="1600" b="1">
                <a:solidFill>
                  <a:srgbClr val="0D9488"/>
                </a:solidFill>
              </a:defRPr>
            </a:pPr>
            <a:r>
              <a:t>Merci pour votre attention ! Questions &amp;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